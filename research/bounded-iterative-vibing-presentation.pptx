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everyone. How many of you are using AI coding assistants like Claude, Cursor, or GitHub Copilot? [pause for hands] Great. Keep your hands up if you've experienced architectural chaos or inconsistencies from AI-generated code. [pause] Yeah, most hands still up. Today I'm going to show you how to get the speed of AI development without creating unmaintainable chaos."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"We're caught between two extremes. On one side, vibe coding - you tell Claude to build a dashboard, and it appears in minutes. You're shipping 10x faster, but three months later your codebase is inconsistent, your auth middleware uses a different pattern than your payment code, and you have maybe 20% test coverage. On the other side, spec-driven development - pristine architecture, everything documented, but by the time you finish your 50-page spec, your competitor has shipped and the market has moved. There has to be a better way."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look at the data. Two-thirds of developers are already using AI assistants weekly. Almost 90% report real productivity gains. But here's the problem: nearly three-quarters report architectural inconsistencies within just three months. We're getting the speed, but we're paying for it in technical debt and maintainability."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what typically happens. Your AI agent implements authentication using JWT tokens in one service, sessions in another, and OAuth in a third. Each time you ask it to build a UI component, it uses different patterns because it has no memory of what you did last week. Test coverage is all over the place. And your middleware? Five different implementations because the AI had no guidance on 'the one way' to do things."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we developed a new methodology specifically for AI-native development. We call it Bounded Iterative Vibing - or if you prefer the friendlier name, Vibe with Guides. The core insight is right in the name: you vibe at machine speed, but you stay within the bounds. Your AI agents have freedom to iterate rapidly, but they're guided by architectural guardrails that prevent chaos."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framework rests on three pillars. First, architectural guardrails - lightweight mechanisms that guide AI without restricting speed. Second, intelligence scaling - using AI to review AI, catching 80% of issues before human review. Third, adaptive rigor - matching quality gates to your project's actual needs. Let's dive into each."</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"Think of a highway. The guardrails don't prevent you from driving fast - they let you drive fast safely. That's what architectural guardrails do for AI development."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"ADRs are like house rules for your AI agents. Instead of writing a 50-page spec, you write lightweight decisions: here's how we handle errors, here's our auth pattern, here's our state management approach. When your AI builds a new feature, it reads these ADRs and knows 'the one way' to do things. No more implementing the same problem five different ways."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guardrail is locks. Imagine you have a payment processing module that's been in production for two years, handling millions of transactions. The last thing you want is an AI agent 'helpfully' refactoring it because it thinks async/await is better than callbacks. Lock files let AI agents read the code to understand patterns, but they can't modify it without explicit approval."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what a lock file looks like. Five types of locks - read-only for critical code, interface locks for APIs, module locks for cohesive components. The AI can read and test, but any modification requires explicit approval from the team lead."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impact is dramatic. Teams using ADRs and locks report an 85% reduction in architectural inconsistencies. Instead of five different middleware patterns, you have one. Instead of auth implemented three ways, you have one standard approach. And critical code stays protected."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pillar is intelligence scaling. Here's the insight: traditional code review doesn't scale when you're shipping AI-generated code at 10x speed. So instead of making humans do all the review, we use specialized AI agents to catch 80% of issues automatically."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specialized agents run in parallel. The architect agent checks ADR compliance. The security agent looks for SQL injection, XSS, auth bugs. The performance agent catches N+1 queries and memory leaks. The testing agent ensures adequate coverage. And the lock coordinator verifies no protected files were modified. All of this happens before human review."</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a huge problem nobody talks about: knowledge cutoff. Your AI was trained in 2023. It doesn't know about React 19 features, Next.js 15 changes, or Tailwind v4 syntax. So it uses outdated patterns. Context7 solves this by fetching the latest documentation after the training cutoff, right before your AI starts implementing. No more 'I'm using React 18 patterns because that's what I was trained 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"Traditional testing can't answer 'does this look good?' or 'is this responsive?' So we use LLM-as-Judge. Browser automation takes screenshots at different viewport sizes, and an LLM evaluates: Does this follow our design system? Are color contrasts accessible? Is the layout responsive? Minor issues get auto-fixed. Major issues get flagged for human review."</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impact is massive. Traditional review takes 4-5 hours per feature. Multi-agent review catches 80% of issues in 15 minutes, and the human reviewer spends just 30 minutes on product decisions and architectural vision - not nitpicking linting errors or finding SQL injection. Six times faster."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key insight that makes this whole thing work: not all code requires the same rigor. A quick proof-of-concept to validate product-market fit needs zero percent test coverage and maximum speed. A mission-critical payment system needs 95% coverage and exhaustive security review. The problem with both vibe coding and traditional development is they treat everything the same. We don't."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define 12 granular maturity stages. You start at prototype-alpha with zero tests and maximum speed. As your project proves itself and you move to MVP, quality gates automatically tighten to 35% coverage and enhanced security review. By the time you hit production, you're at 90% coverage. Mission-critical systems get 95% coverage and exhaustive security. Quality scales with criticality."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"Configuration is simple. One YAML file defines your entire quality posture. Set your maturity stage, and all the quality gates configure automatically. Your AI agents know exactly what rigor to apply."</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"Another killer feature: technical constraints. Tell your AI agents upfront what's actually possible in your environment. You have a Postgres license, not MongoDB. Your team knows Python 3.9, not 3.11. You're on AWS GovCloud for compliance. Your servers have 512MB of RAM. Now the AI doesn't waste time suggesting MongoDB or Redis or building something that needs 4GB of RAM. Prevents wasted implementation cycles."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see this in action with a real example. You're building a user analytics dashboard for an MVP-stage product. Let me walk you through the five phases."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1: Jira ticket comes in. Phase 2: Claude reads your ADRs and knows you use Chart.js for visualizations, not D3. It reads the lock files and knows it can read the analytics API but can't modify it. Context7 fetches the latest Chart.js 4.x documentation. It checks your constraints and knows it needs to stay under 512MB of RAM. In 30 minutes, it generates a tech spec perfectly aligned with your existing architecture."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3: Five specialized agents validate in parallel. Architect agent confirms it follows the Chart.js ADR. Security agent finds no SQL injection. Performance agent sees pagination is implemented. Testing agent finds 32% coverage - needs 35% for MVP-beta stage - so it automatically adds a few more tests to hit 37%. Lock coordinator confirms no protected files were modified. Fifteen minutes, all green."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4: Human reviewer sees all the mechanical checks are done. They spend just 10 minutes on the important question: does this solve the user's problem? Phase 5: Three agents implement in parallel - frontend, backend, database. All stay within architectural bounds. No conflicts, no drift."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result. Traditional spec-driven development takes three days. Pure vibe coding takes two hours but gives you 15% test coverage and architectural chaos. Bounded Iterative Vibing? Three hours with MVP-beta quality - 35% test coverage, security validated, ADR-compliant. You get the speed without the chaos."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approach solves 25 fundamental problems. Thirteen problems with vibe coding - architectural drift, inconsistent implementations, no security, insufficient tests, and more. Twelve problems with spec-driven development - slow cycles, perfection paralysis, bottlenecked reviews, and more. We're not just optimizing one approach - we're creating a new synthesis."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don't need to adopt everything at once. Start in 15 minutes. Write your top 3-5 ADRs - error handling, auth pattern, API conventions. Lock your 10-20 most critical files - payments, auth, core business logic. Set your maturity stage - are you at prototype, MVP, or production? Declare your technical constraints. Teams typically see ROI within two weeks."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"Measure what matters. Track architectural consistency - what percentage of code follows your ADRs. Review time reduction - before and after. Bug escape rate - production bugs from AI-generated code. Feature velocity - time from spec to production. And test coverage mapped to your maturity stages."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why this matters now. AI coding assistant adoption is growing at 300% year over year. Two-thirds of developers already use them weekly. Within 18 months, every development team will be AI-assisted. The question isn't if you'll use AI agents - it's how you'll prevent them from creating unmaintainable chaos. You need a methodology designed for AI-native development. You need it now."</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have three choices. Door one: pure vibe coding. Fast but chaotic. Three months from now you have architectural debt you can't pay down. Door two: traditional spec-driven development. Safe but slow. Your competitors ship while you're writing specs. Door three: Bounded Iterative Vibing. Fast AND safe. You vibe at machine speed. You stay within the bounds. You get both."</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"Ready to try Bounded Iterative Vibing? Scan this QR code to download the starter kit - ADR templates, lock file examples, maturity configuration guides. Read the full research on GitHub. Join our community discussion. And most importantly, start today with the 15-minute quick start guide. Write three ADRs, lock ten files, set your maturity stage, and ship your next feature with confidence."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I'll take questions now."</a:t>
            </a:r>
          </a:p>
          <a:p/>
          <a:p>
            <a:r>
              <a:t>ANTICIPATED Q&amp;A:</a:t>
            </a:r>
          </a:p>
          <a:p/>
          <a:p>
            <a:r>
              <a:t>Q: What if we're already deep in vibe coding chaos?</a:t>
            </a:r>
          </a:p>
          <a:p>
            <a:r>
              <a:t>A: Start with ADRs. Document the patterns you want going forward. Lock critical code. You don't need to refactor everything - just guide future development.</a:t>
            </a:r>
          </a:p>
          <a:p/>
          <a:p>
            <a:r>
              <a:t>Q: Does this work for solo developers?</a:t>
            </a:r>
          </a:p>
          <a:p>
            <a:r>
              <a:t>A: Absolutely. Even with one AI agent, you benefit from consistency across your own sessions, protecting stable code, and right-sizing rigor.</a:t>
            </a:r>
          </a:p>
          <a:p/>
          <a:p>
            <a:r>
              <a:t>Q: Which AI tools does this work with?</a:t>
            </a:r>
          </a:p>
          <a:p>
            <a:r>
              <a:t>A: All of them. Claude Code, Cursor, GitHub Copilot, Cline, Windsurf, local LLMs. The framework is tool-agnostic.</a:t>
            </a:r>
          </a:p>
          <a:p/>
          <a:p>
            <a:r>
              <a:t>Q: How do you handle breaking changes to ADRs?</a:t>
            </a:r>
          </a:p>
          <a:p>
            <a:r>
              <a:t>A: ADRs have a status field - Proposed, Accepted, Superseded. When you supersede an ADR, you reference the new one that replaces it.</a:t>
            </a:r>
          </a:p>
          <a:p/>
          <a:p>
            <a:r>
              <a:t>Q: What about teams that don't want to use AI?</a:t>
            </a:r>
          </a:p>
          <a:p>
            <a:r>
              <a:t>A: The principles still work - ADRs, locks, adaptive rigor - but the ROI is highest for AI-assisted teams.</a:t>
            </a:r>
          </a:p>
          <a:p/>
          <a:p>
            <a:r>
              <a:t>Q: How much overhead is this really?</a:t>
            </a:r>
          </a:p>
          <a:p>
            <a:r>
              <a:t>A: One-time: 30 minutes to write initial ADRs and locks. Ongoing: negligible. You're documenting decisions you'd make anyway.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solidFill>
                  <a:srgbClr val="003366"/>
                </a:solidFill>
              </a:defRPr>
            </a:pPr>
            <a:r>
              <a:t>1</a:t>
            </a:r>
          </a:p>
        </p:txBody>
      </p:sp>
      <p:sp>
        <p:nvSpPr>
          <p:cNvPr id="3" name="Subtitle 2"/>
          <p:cNvSpPr>
            <a:spLocks noGrp="1"/>
          </p:cNvSpPr>
          <p:nvPr>
            <p:ph type="subTitle" idx="1"/>
          </p:nvPr>
        </p:nvSpPr>
        <p:spPr/>
        <p:txBody>
          <a:bodyPr wrap="square"/>
          <a:lstStyle/>
          <a:p/>
          <a:p>
            <a:pPr>
              <a:spcAft>
                <a:spcPts val="1200"/>
              </a:spcAft>
              <a:defRPr sz="1800"/>
            </a:pPr>
            <a:r>
              <a:t>Bold title: "Vibe at Machine Speed. Stay Within the Bounds."</a:t>
            </a:r>
          </a:p>
          <a:p>
            <a:pPr>
              <a:spcAft>
                <a:spcPts val="1200"/>
              </a:spcAft>
              <a:defRPr sz="1800"/>
            </a:pPr>
            <a:r>
              <a:t>Subtitle: "Bounded Iterative Vibing: The AI-Native Development Methodology"</a:t>
            </a:r>
          </a:p>
          <a:p>
            <a:pPr>
              <a:spcAft>
                <a:spcPts val="1200"/>
              </a:spcAft>
              <a:defRPr sz="1800"/>
            </a:pPr>
            <a:r>
              <a:t>Your name and title</a:t>
            </a:r>
          </a:p>
          <a:p>
            <a:pPr>
              <a:spcAft>
                <a:spcPts val="1200"/>
              </a:spcAft>
              <a:defRPr sz="1800"/>
            </a:pPr>
            <a:r>
              <a:t>Conference name and date</a:t>
            </a:r>
          </a:p>
          <a:p>
            <a:pPr>
              <a:spcAft>
                <a:spcPts val="1200"/>
              </a:spcAft>
              <a:defRPr sz="1800"/>
            </a:pPr>
            <a:r>
              <a:t>Background: Split design - left side chaotic code snippets, right side organized architecture diagram</a:t>
            </a:r>
          </a:p>
          <a:p>
            <a:pPr>
              <a:spcAft>
                <a:spcPts val="1200"/>
              </a:spcAft>
              <a:defRPr sz="1800"/>
            </a:pPr>
            <a:r>
              <a: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4400" b="1">
                <a:solidFill>
                  <a:srgbClr val="003366"/>
                </a:solidFill>
              </a:defRPr>
            </a:pPr>
            <a:r>
              <a:t>2</a:t>
            </a:r>
          </a:p>
        </p:txBody>
      </p:sp>
      <p:sp>
        <p:nvSpPr>
          <p:cNvPr id="3" name="Content Placeholder 2"/>
          <p:cNvSpPr>
            <a:spLocks noGrp="1"/>
          </p:cNvSpPr>
          <p:nvPr>
            <p:ph idx="1"/>
          </p:nvPr>
        </p:nvSpPr>
        <p:spPr/>
        <p:txBody>
          <a:bodyPr wrap="square"/>
          <a:lstStyle/>
          <a:p/>
          <a:p>
            <a:pPr>
              <a:spcAft>
                <a:spcPts val="1200"/>
              </a:spcAft>
              <a:defRPr sz="1800"/>
            </a:pPr>
            <a:r>
              <a:t>"Vibe Coding: ⚡ Fast but 💥 Chaotic"</a:t>
            </a:r>
          </a:p>
          <a:p>
            <a:pPr>
              <a:spcAft>
                <a:spcPts val="1200"/>
              </a:spcAft>
              <a:defRPr sz="1800"/>
            </a:pPr>
            <a:r>
              <a:t>"Spec-Driven: 🛡️ Safe but 🐢 Slow"</a:t>
            </a:r>
          </a:p>
          <a:p>
            <a:pPr>
              <a:spcAft>
                <a:spcPts val="1200"/>
              </a:spcAft>
              <a:defRPr sz="1800"/>
            </a:pPr>
            <a:r>
              <a:t>"Is there a better way?"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4400" b="1">
                <a:solidFill>
                  <a:srgbClr val="003366"/>
                </a:solidFill>
              </a:defRPr>
            </a:pPr>
            <a:r>
              <a:t>3</a:t>
            </a:r>
          </a:p>
        </p:txBody>
      </p:sp>
      <p:sp>
        <p:nvSpPr>
          <p:cNvPr id="3" name="Content Placeholder 2"/>
          <p:cNvSpPr>
            <a:spLocks noGrp="1"/>
          </p:cNvSpPr>
          <p:nvPr>
            <p:ph idx="1"/>
          </p:nvPr>
        </p:nvSpPr>
        <p:spPr/>
        <p:txBody>
          <a:bodyPr wrap="square"/>
          <a:lstStyle/>
          <a:p/>
          <a:p>
            <a:pPr>
              <a:spcAft>
                <a:spcPts val="1200"/>
              </a:spcAft>
              <a:defRPr sz="1800"/>
            </a:pPr>
            <a:r>
              <a:t>Three statistics with icons:</a:t>
            </a:r>
          </a:p>
          <a:p>
            <a:pPr>
              <a:spcAft>
                <a:spcPts val="1200"/>
              </a:spcAft>
              <a:defRPr sz="1800"/>
            </a:pPr>
            <a:r>
              <a:t>📊 67% of developers use AI coding assistants weekly</a:t>
            </a:r>
          </a:p>
          <a:p>
            <a:pPr>
              <a:spcAft>
                <a:spcPts val="1200"/>
              </a:spcAft>
              <a:defRPr sz="1800"/>
            </a:pPr>
            <a:r>
              <a:t>📈 89% report productivity gains</a:t>
            </a:r>
          </a:p>
          <a:p>
            <a:pPr>
              <a:spcAft>
                <a:spcPts val="1200"/>
              </a:spcAft>
              <a:defRPr sz="1800"/>
            </a:pPr>
            <a:r>
              <a:t>⚠️ 73% hit architectural chaos within 3 months</a:t>
            </a:r>
          </a:p>
          <a:p>
            <a:pPr>
              <a:spcAft>
                <a:spcPts val="1200"/>
              </a:spcAft>
              <a:defRPr sz="1800"/>
            </a:pPr>
            <a:r>
              <a: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4400" b="1">
                <a:solidFill>
                  <a:srgbClr val="003366"/>
                </a:solidFill>
              </a:defRPr>
            </a:pPr>
            <a:r>
              <a:t>4</a:t>
            </a:r>
          </a:p>
        </p:txBody>
      </p:sp>
      <p:sp>
        <p:nvSpPr>
          <p:cNvPr id="3" name="Content Placeholder 2"/>
          <p:cNvSpPr>
            <a:spLocks noGrp="1"/>
          </p:cNvSpPr>
          <p:nvPr>
            <p:ph idx="1"/>
          </p:nvPr>
        </p:nvSpPr>
        <p:spPr/>
        <p:txBody>
          <a:bodyPr wrap="square"/>
          <a:lstStyle/>
          <a:p/>
          <a:p>
            <a:pPr>
              <a:spcAft>
                <a:spcPts val="1200"/>
              </a:spcAft>
              <a:defRPr sz="1800"/>
            </a:pPr>
            <a:r>
              <a:t>Four quadrants showing common failures:</a:t>
            </a:r>
          </a:p>
          <a:p>
            <a:pPr>
              <a:spcAft>
                <a:spcPts val="1200"/>
              </a:spcAft>
              <a:defRPr sz="1800"/>
            </a:pPr>
            <a:r>
              <a:t>🔒 Auth in 3 Different Ways - "JWT here, sessions there, OAuth somewhere else"</a:t>
            </a:r>
          </a:p>
          <a:p>
            <a:pPr>
              <a:spcAft>
                <a:spcPts val="1200"/>
              </a:spcAft>
              <a:defRPr sz="1800"/>
            </a:pPr>
            <a:r>
              <a:t>🎨 No Design Consistency - "Each AI session uses different UI patterns"</a:t>
            </a:r>
          </a:p>
          <a:p>
            <a:pPr>
              <a:spcAft>
                <a:spcPts val="1200"/>
              </a:spcAft>
              <a:defRPr sz="1800"/>
            </a:pPr>
            <a:r>
              <a:t>🧪 Spotty Test Coverage - "15% here, 40% there, 0% over there"</a:t>
            </a:r>
          </a:p>
          <a:p>
            <a:pPr>
              <a:spcAft>
                <a:spcPts val="1200"/>
              </a:spcAft>
              <a:defRPr sz="1800"/>
            </a:pPr>
            <a:r>
              <a:t>🏗️ Architectural Drift - "Middleware implemented 5 different ways"</a:t>
            </a:r>
          </a:p>
          <a:p>
            <a:pPr>
              <a:spcAft>
                <a:spcPts val="1200"/>
              </a:spcAft>
              <a:defRPr sz="1800"/>
            </a:pPr>
            <a: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4400" b="1">
                <a:solidFill>
                  <a:srgbClr val="003366"/>
                </a:solidFill>
              </a:defRPr>
            </a:pPr>
            <a:r>
              <a:t>5</a:t>
            </a:r>
          </a:p>
        </p:txBody>
      </p:sp>
      <p:sp>
        <p:nvSpPr>
          <p:cNvPr id="3" name="Content Placeholder 2"/>
          <p:cNvSpPr>
            <a:spLocks noGrp="1"/>
          </p:cNvSpPr>
          <p:nvPr>
            <p:ph idx="1"/>
          </p:nvPr>
        </p:nvSpPr>
        <p:spPr/>
        <p:txBody>
          <a:bodyPr wrap="square"/>
          <a:lstStyle/>
          <a:p/>
          <a:p>
            <a:pPr>
              <a:spcAft>
                <a:spcPts val="1200"/>
              </a:spcAft>
              <a:defRPr sz="1800"/>
            </a:pPr>
            <a:r>
              <a:t>Bounded Iterative Vibing</a:t>
            </a:r>
          </a:p>
          <a:p>
            <a:pPr>
              <a:spcAft>
                <a:spcPts val="1200"/>
              </a:spcAft>
              <a:defRPr sz="1800"/>
            </a:pPr>
            <a:r>
              <a:t>(aka "Vibe with Guides" or "Agile Vibe Coding")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4400" b="1">
                <a:solidFill>
                  <a:srgbClr val="003366"/>
                </a:solidFill>
              </a:defRPr>
            </a:pPr>
            <a:r>
              <a:t>6</a:t>
            </a:r>
          </a:p>
        </p:txBody>
      </p:sp>
      <p:sp>
        <p:nvSpPr>
          <p:cNvPr id="3" name="Content Placeholder 2"/>
          <p:cNvSpPr>
            <a:spLocks noGrp="1"/>
          </p:cNvSpPr>
          <p:nvPr>
            <p:ph idx="1"/>
          </p:nvPr>
        </p:nvSpPr>
        <p:spPr/>
        <p:txBody>
          <a:bodyPr wrap="square"/>
          <a:lstStyle/>
          <a:p/>
          <a:p>
            <a:pPr>
              <a:spcAft>
                <a:spcPts val="1200"/>
              </a:spcAft>
              <a:defRPr sz="1800"/>
            </a:pPr>
            <a:r>
              <a:t>Three columns with icons:</a:t>
            </a:r>
          </a:p>
          <a:p>
            <a:pPr>
              <a:spcAft>
                <a:spcPts val="1200"/>
              </a:spcAft>
              <a:defRPr sz="1800"/>
            </a:pPr>
            <a:r>
              <a:t>🛡️ Architectural Guardrails</a:t>
            </a:r>
          </a:p>
          <a:p>
            <a:pPr>
              <a:spcAft>
                <a:spcPts val="1200"/>
              </a:spcAft>
              <a:defRPr sz="1800"/>
            </a:pPr>
            <a:r>
              <a:t>ADRs</a:t>
            </a:r>
          </a:p>
          <a:p>
            <a:pPr>
              <a:spcAft>
                <a:spcPts val="1200"/>
              </a:spcAft>
              <a:defRPr sz="1800"/>
            </a:pPr>
            <a:r>
              <a:t>Locks</a:t>
            </a:r>
          </a:p>
          <a:p>
            <a:pPr>
              <a:spcAft>
                <a:spcPts val="1200"/>
              </a:spcAft>
              <a:defRPr sz="1800"/>
            </a:pPr>
            <a:r>
              <a:t>🧠 Intelligence Scaling</a:t>
            </a:r>
          </a:p>
          <a:p>
            <a:pPr>
              <a:spcAft>
                <a:spcPts val="1200"/>
              </a:spcAft>
              <a:defRPr sz="1800"/>
            </a:pPr>
            <a:r>
              <a:t>Context Refresh</a:t>
            </a:r>
          </a:p>
          <a:p>
            <a:pPr>
              <a:spcAft>
                <a:spcPts val="1200"/>
              </a:spcAft>
              <a:defRPr sz="1800"/>
            </a:pPr>
            <a:r>
              <a:t>Multi-Agent Review</a:t>
            </a:r>
          </a:p>
          <a:p>
            <a:pPr>
              <a:spcAft>
                <a:spcPts val="1200"/>
              </a:spcAft>
              <a:defRPr sz="1800"/>
            </a:pPr>
            <a:r>
              <a:t>LLM-as-Judge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4400" b="1">
                <a:solidFill>
                  <a:srgbClr val="003366"/>
                </a:solidFill>
              </a:defRPr>
            </a:pPr>
            <a:r>
              <a:t>7</a:t>
            </a:r>
          </a:p>
        </p:txBody>
      </p:sp>
      <p:sp>
        <p:nvSpPr>
          <p:cNvPr id="3" name="Content Placeholder 2"/>
          <p:cNvSpPr>
            <a:spLocks noGrp="1"/>
          </p:cNvSpPr>
          <p:nvPr>
            <p:ph idx="1"/>
          </p:nvPr>
        </p:nvSpPr>
        <p:spPr/>
        <p:txBody>
          <a:bodyPr wrap="square"/>
          <a:lstStyle/>
          <a:p/>
          <a:p>
            <a:pPr>
              <a:spcAft>
                <a:spcPts val="1200"/>
              </a:spcAft>
              <a:defRPr sz="1800"/>
            </a:pPr>
            <a:r>
              <a:t>"Freedom to move fast. Safety to stay on track."</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4400" b="1">
                <a:solidFill>
                  <a:srgbClr val="003366"/>
                </a:solidFill>
              </a:defRPr>
            </a:pPr>
            <a:r>
              <a:t>8</a:t>
            </a:r>
          </a:p>
        </p:txBody>
      </p:sp>
      <p:sp>
        <p:nvSpPr>
          <p:cNvPr id="3" name="Content Placeholder 2"/>
          <p:cNvSpPr>
            <a:spLocks noGrp="1"/>
          </p:cNvSpPr>
          <p:nvPr>
            <p:ph idx="1"/>
          </p:nvPr>
        </p:nvSpPr>
        <p:spPr/>
        <p:txBody>
          <a:bodyPr wrap="square"/>
          <a:lstStyle/>
          <a:p/>
          <a:p>
            <a:pPr>
              <a:spcAft>
                <a:spcPts val="1200"/>
              </a:spcAft>
              <a:defRPr sz="1800"/>
            </a:pPr>
            <a:r>
              <a:t>"House rules for your AI agents"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4400" b="1">
                <a:solidFill>
                  <a:srgbClr val="003366"/>
                </a:solidFill>
              </a:defRPr>
            </a:pPr>
            <a:r>
              <a:t>9</a:t>
            </a:r>
          </a:p>
        </p:txBody>
      </p:sp>
      <p:sp>
        <p:nvSpPr>
          <p:cNvPr id="3" name="Content Placeholder 2"/>
          <p:cNvSpPr>
            <a:spLocks noGrp="1"/>
          </p:cNvSpPr>
          <p:nvPr>
            <p:ph idx="1"/>
          </p:nvPr>
        </p:nvSpPr>
        <p:spPr/>
        <p:txBody>
          <a:bodyPr wrap="square"/>
          <a:lstStyle/>
          <a:p/>
          <a:p>
            <a:pPr>
              <a:spcAft>
                <a:spcPts val="1200"/>
              </a:spcAft>
              <a:defRPr sz="1800"/>
            </a:pPr>
            <a:r>
              <a:t>Protect critical code from "helpful" AI refactoring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4400" b="1">
                <a:solidFill>
                  <a:srgbClr val="003366"/>
                </a:solidFill>
              </a:defRPr>
            </a:pPr>
            <a:r>
              <a:t>10</a:t>
            </a:r>
          </a:p>
        </p:txBody>
      </p:sp>
      <p:sp>
        <p:nvSpPr>
          <p:cNvPr id="3" name="Content Placeholder 2"/>
          <p:cNvSpPr>
            <a:spLocks noGrp="1"/>
          </p:cNvSpPr>
          <p:nvPr>
            <p:ph idx="1"/>
          </p:nvPr>
        </p:nvSpPr>
        <p:spPr/>
        <p:txBody>
          <a:bodyPr wrap="square"/>
          <a:lstStyle/>
          <a:p/>
          <a:p>
            <a:pPr>
              <a:spcAft>
                <a:spcPts val="1200"/>
              </a:spcAft>
              <a:defRPr sz="1800"/>
            </a:pPr>
            <a:r>
              <a:t>Code snippet:</a:t>
            </a:r>
          </a:p>
          <a:p>
            <a:pPr>
              <a:spcAft>
                <a:spcPts val="1200"/>
              </a:spcAft>
              <a:defRPr sz="1800"/>
            </a:pPr>
            <a:r>
              <a:t>yaml</a:t>
            </a:r>
          </a:p>
          <a:p>
            <a:pPr>
              <a:spcAft>
                <a:spcPts val="1200"/>
              </a:spcAft>
              <a:defRPr sz="1800"/>
            </a:pPr>
            <a:r>
              <a:t>locktype: readonly</a:t>
            </a:r>
          </a:p>
          <a:p>
            <a:pPr>
              <a:spcAft>
                <a:spcPts val="1200"/>
              </a:spcAft>
              <a:defRPr sz="1800"/>
            </a:pPr>
            <a:r>
              <a:t>reason: "Battle-tested - handles $2M/day"</a:t>
            </a:r>
          </a:p>
          <a:p>
            <a:pPr>
              <a:spcAft>
                <a:spcPts val="1200"/>
              </a:spcAft>
              <a:defRPr sz="1800"/>
            </a:pPr>
            <a:r>
              <a:t>locked_files:</a:t>
            </a:r>
          </a:p>
          <a:p>
            <a:pPr>
              <a:spcAft>
                <a:spcPts val="1200"/>
              </a:spcAft>
              <a:defRPr sz="1800"/>
            </a:pPr>
            <a:r>
              <a:t>stripe-integration.ts</a:t>
            </a:r>
          </a:p>
          <a:p>
            <a:pPr>
              <a:spcAft>
                <a:spcPts val="1200"/>
              </a:spcAft>
              <a:defRPr sz="1800"/>
            </a:pPr>
            <a:r>
              <a:t>payment-validator.ts</a:t>
            </a:r>
          </a:p>
          <a:p>
            <a:pPr>
              <a:spcAft>
                <a:spcPts val="1200"/>
              </a:spcAft>
              <a:defRPr sz="1800"/>
            </a:pPr>
            <a:r>
              <a:t>allowed_operations: [read, test]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4400" b="1">
                <a:solidFill>
                  <a:srgbClr val="003366"/>
                </a:solidFill>
              </a:defRPr>
            </a:pPr>
            <a:r>
              <a:t>11</a:t>
            </a:r>
          </a:p>
        </p:txBody>
      </p:sp>
      <p:sp>
        <p:nvSpPr>
          <p:cNvPr id="3" name="Content Placeholder 2"/>
          <p:cNvSpPr>
            <a:spLocks noGrp="1"/>
          </p:cNvSpPr>
          <p:nvPr>
            <p:ph idx="1"/>
          </p:nvPr>
        </p:nvSpPr>
        <p:spPr/>
        <p:txBody>
          <a:bodyPr wrap="square"/>
          <a:lstStyle/>
          <a:p/>
          <a:p>
            <a:pPr>
              <a:spcAft>
                <a:spcPts val="1200"/>
              </a:spcAft>
              <a:defRPr sz="1800"/>
            </a:pPr>
            <a:r>
              <a:t>85% reduction in architectural inconsistencies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4400" b="1">
                <a:solidFill>
                  <a:srgbClr val="003366"/>
                </a:solidFill>
              </a:defRPr>
            </a:pPr>
            <a:r>
              <a:t>12</a:t>
            </a:r>
          </a:p>
        </p:txBody>
      </p:sp>
      <p:sp>
        <p:nvSpPr>
          <p:cNvPr id="3" name="Content Placeholder 2"/>
          <p:cNvSpPr>
            <a:spLocks noGrp="1"/>
          </p:cNvSpPr>
          <p:nvPr>
            <p:ph idx="1"/>
          </p:nvPr>
        </p:nvSpPr>
        <p:spPr/>
        <p:txBody>
          <a:bodyPr wrap="square"/>
          <a:lstStyle/>
          <a:p/>
          <a:p>
            <a:pPr>
              <a:spcAft>
                <a:spcPts val="1200"/>
              </a:spcAft>
              <a:defRPr sz="1800"/>
            </a:pPr>
            <a:r>
              <a:t>"Let AI review AI. Humans focus on what matters."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4400" b="1">
                <a:solidFill>
                  <a:srgbClr val="003366"/>
                </a:solidFill>
              </a:defRPr>
            </a:pPr>
            <a:r>
              <a:t>13</a:t>
            </a:r>
          </a:p>
        </p:txBody>
      </p:sp>
      <p:sp>
        <p:nvSpPr>
          <p:cNvPr id="3" name="Content Placeholder 2"/>
          <p:cNvSpPr>
            <a:spLocks noGrp="1"/>
          </p:cNvSpPr>
          <p:nvPr>
            <p:ph idx="1"/>
          </p:nvPr>
        </p:nvSpPr>
        <p:spPr/>
        <p:txBody>
          <a:bodyPr wrap="square"/>
          <a:lstStyle/>
          <a:p/>
          <a:p>
            <a:pPr>
              <a:spcAft>
                <a:spcPts val="1200"/>
              </a:spcAft>
              <a:defRPr sz="1800"/>
            </a:pPr>
            <a:r>
              <a:t>Five cards showing each agent:</a:t>
            </a:r>
          </a:p>
          <a:p>
            <a:pPr>
              <a:spcAft>
                <a:spcPts val="1200"/>
              </a:spcAft>
              <a:defRPr sz="1800"/>
            </a:pPr>
            <a:r>
              <a:t>🏛️ Architect Agent</a:t>
            </a:r>
          </a:p>
          <a:p>
            <a:pPr>
              <a:spcAft>
                <a:spcPts val="1200"/>
              </a:spcAft>
              <a:defRPr sz="1800"/>
            </a:pPr>
            <a:r>
              <a:t>Validates ADR compliance</a:t>
            </a:r>
          </a:p>
          <a:p>
            <a:pPr>
              <a:spcAft>
                <a:spcPts val="1200"/>
              </a:spcAft>
              <a:defRPr sz="1800"/>
            </a:pPr>
            <a:r>
              <a:t>🔒 Security Agent</a:t>
            </a:r>
          </a:p>
          <a:p>
            <a:pPr>
              <a:spcAft>
                <a:spcPts val="1200"/>
              </a:spcAft>
              <a:defRPr sz="1800"/>
            </a:pPr>
            <a:r>
              <a:t>OWASP Top 10, auth patterns</a:t>
            </a:r>
          </a:p>
          <a:p>
            <a:pPr>
              <a:spcAft>
                <a:spcPts val="1200"/>
              </a:spcAft>
              <a:defRPr sz="1800"/>
            </a:pPr>
            <a:r>
              <a:t>⚡ Performance Agent</a:t>
            </a:r>
          </a:p>
          <a:p>
            <a:pPr>
              <a:spcAft>
                <a:spcPts val="1200"/>
              </a:spcAft>
              <a:defRPr sz="1800"/>
            </a:pPr>
            <a:r>
              <a:t>N+1 queries, memory leaks</a:t>
            </a:r>
          </a:p>
          <a:p>
            <a:pPr>
              <a:spcAft>
                <a:spcPts val="1200"/>
              </a:spcAft>
              <a:defRPr sz="1800"/>
            </a:pPr>
            <a:r>
              <a:t>✅ Testing Agent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4400" b="1">
                <a:solidFill>
                  <a:srgbClr val="003366"/>
                </a:solidFill>
              </a:defRPr>
            </a:pPr>
            <a:r>
              <a:t>14</a:t>
            </a:r>
          </a:p>
        </p:txBody>
      </p:sp>
      <p:sp>
        <p:nvSpPr>
          <p:cNvPr id="3" name="Content Placeholder 2"/>
          <p:cNvSpPr>
            <a:spLocks noGrp="1"/>
          </p:cNvSpPr>
          <p:nvPr>
            <p:ph idx="1"/>
          </p:nvPr>
        </p:nvSpPr>
        <p:spPr/>
        <p:txBody>
          <a:bodyPr wrap="square"/>
          <a:lstStyle/>
          <a:p/>
          <a:p>
            <a:pPr>
              <a:spcAft>
                <a:spcPts val="1200"/>
              </a:spcAft>
              <a:defRPr sz="1800"/>
            </a:pPr>
            <a:r>
              <a:t>Problem: LLM trained on old docs</a:t>
            </a:r>
          </a:p>
          <a:p>
            <a:pPr>
              <a:spcAft>
                <a:spcPts val="1200"/>
              </a:spcAft>
              <a:defRPr sz="1800"/>
            </a:pPr>
            <a:r>
              <a:t>Solution: Fetch latest docs before coding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4400" b="1">
                <a:solidFill>
                  <a:srgbClr val="003366"/>
                </a:solidFill>
              </a:defRPr>
            </a:pPr>
            <a:r>
              <a:t>15</a:t>
            </a:r>
          </a:p>
        </p:txBody>
      </p:sp>
      <p:sp>
        <p:nvSpPr>
          <p:cNvPr id="3" name="Content Placeholder 2"/>
          <p:cNvSpPr>
            <a:spLocks noGrp="1"/>
          </p:cNvSpPr>
          <p:nvPr>
            <p:ph idx="1"/>
          </p:nvPr>
        </p:nvSpPr>
        <p:spPr/>
        <p:txBody>
          <a:bodyPr wrap="square"/>
          <a:lstStyle/>
          <a:p/>
          <a:p>
            <a:pPr>
              <a:spcAft>
                <a:spcPts val="1200"/>
              </a:spcAft>
              <a:defRPr sz="1800"/>
            </a:pPr>
            <a:r>
              <a:t>"How do you test if a UI 'looks good'?"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4400" b="1">
                <a:solidFill>
                  <a:srgbClr val="003366"/>
                </a:solidFill>
              </a:defRPr>
            </a:pPr>
            <a:r>
              <a:t>16</a:t>
            </a:r>
          </a:p>
        </p:txBody>
      </p:sp>
      <p:sp>
        <p:nvSpPr>
          <p:cNvPr id="3" name="Content Placeholder 2"/>
          <p:cNvSpPr>
            <a:spLocks noGrp="1"/>
          </p:cNvSpPr>
          <p:nvPr>
            <p:ph idx="1"/>
          </p:nvPr>
        </p:nvSpPr>
        <p:spPr/>
        <p:txBody>
          <a:bodyPr wrap="square"/>
          <a:lstStyle/>
          <a:p/>
          <a:p>
            <a:pPr>
              <a:spcAft>
                <a:spcPts val="1200"/>
              </a:spcAft>
              <a:defRPr sz="1800"/>
            </a:pPr>
            <a:r>
              <a:t>80% of issues caught pre-human review</a:t>
            </a:r>
          </a:p>
          <a:p>
            <a:pPr>
              <a:spcAft>
                <a:spcPts val="1200"/>
              </a:spcAft>
              <a:defRPr sz="1800"/>
            </a:pPr>
            <a:r>
              <a:t>6x faster review cycle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4400" b="1">
                <a:solidFill>
                  <a:srgbClr val="003366"/>
                </a:solidFill>
              </a:defRPr>
            </a:pPr>
            <a:r>
              <a:t>17</a:t>
            </a:r>
          </a:p>
        </p:txBody>
      </p:sp>
      <p:sp>
        <p:nvSpPr>
          <p:cNvPr id="3" name="Content Placeholder 2"/>
          <p:cNvSpPr>
            <a:spLocks noGrp="1"/>
          </p:cNvSpPr>
          <p:nvPr>
            <p:ph idx="1"/>
          </p:nvPr>
        </p:nvSpPr>
        <p:spPr/>
        <p:txBody>
          <a:bodyPr wrap="square"/>
          <a:lstStyle/>
          <a:p/>
          <a:p>
            <a:pPr>
              <a:spcAft>
                <a:spcPts val="1200"/>
              </a:spcAft>
              <a:defRPr sz="1800"/>
            </a:pPr>
            <a:r>
              <a:t>Not all code needs the same rigor</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4400" b="1">
                <a:solidFill>
                  <a:srgbClr val="003366"/>
                </a:solidFill>
              </a:defRPr>
            </a:pPr>
            <a:r>
              <a:t>18</a:t>
            </a:r>
          </a:p>
        </p:txBody>
      </p:sp>
      <p:sp>
        <p:nvSpPr>
          <p:cNvPr id="3" name="Content Placeholder 2"/>
          <p:cNvSpPr>
            <a:spLocks noGrp="1"/>
          </p:cNvSpPr>
          <p:nvPr>
            <p:ph idx="1"/>
          </p:nvPr>
        </p:nvSpPr>
        <p:spPr/>
        <p:txBody>
          <a:bodyPr wrap="square"/>
          <a:lstStyle/>
          <a:p/>
          <a:p>
            <a:pPr>
              <a:spcAft>
                <a:spcPts val="1200"/>
              </a:spcAft>
              <a:defRPr sz="1800"/>
            </a:pPr>
            <a:r>
              <a:t>Quality gates auto-tighten as projects mature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4400" b="1">
                <a:solidFill>
                  <a:srgbClr val="003366"/>
                </a:solidFill>
              </a:defRPr>
            </a:pPr>
            <a:r>
              <a:t>19</a:t>
            </a:r>
          </a:p>
        </p:txBody>
      </p:sp>
      <p:sp>
        <p:nvSpPr>
          <p:cNvPr id="3" name="Content Placeholder 2"/>
          <p:cNvSpPr>
            <a:spLocks noGrp="1"/>
          </p:cNvSpPr>
          <p:nvPr>
            <p:ph idx="1"/>
          </p:nvPr>
        </p:nvSpPr>
        <p:spPr/>
        <p:txBody>
          <a:bodyPr wrap="square"/>
          <a:lstStyle/>
          <a:p/>
          <a:p>
            <a:pPr>
              <a:spcAft>
                <a:spcPts val="1200"/>
              </a:spcAft>
              <a:defRPr sz="1800"/>
            </a:pPr>
            <a:r>
              <a:t>"One config file. Entire quality posture defined."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4400" b="1">
                <a:solidFill>
                  <a:srgbClr val="003366"/>
                </a:solidFill>
              </a:defRPr>
            </a:pPr>
            <a:r>
              <a:t>20</a:t>
            </a:r>
          </a:p>
        </p:txBody>
      </p:sp>
      <p:sp>
        <p:nvSpPr>
          <p:cNvPr id="3" name="Content Placeholder 2"/>
          <p:cNvSpPr>
            <a:spLocks noGrp="1"/>
          </p:cNvSpPr>
          <p:nvPr>
            <p:ph idx="1"/>
          </p:nvPr>
        </p:nvSpPr>
        <p:spPr/>
        <p:txBody>
          <a:bodyPr wrap="square"/>
          <a:lstStyle/>
          <a:p/>
          <a:p>
            <a:pPr>
              <a:spcAft>
                <a:spcPts val="1200"/>
              </a:spcAft>
              <a:defRPr sz="1800"/>
            </a:pPr>
            <a:r>
              <a:t>Tell AI what's actually possible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4400" b="1">
                <a:solidFill>
                  <a:srgbClr val="003366"/>
                </a:solidFill>
              </a:defRPr>
            </a:pPr>
            <a:r>
              <a:t>21</a:t>
            </a:r>
          </a:p>
        </p:txBody>
      </p:sp>
      <p:sp>
        <p:nvSpPr>
          <p:cNvPr id="3" name="Content Placeholder 2"/>
          <p:cNvSpPr>
            <a:spLocks noGrp="1"/>
          </p:cNvSpPr>
          <p:nvPr>
            <p:ph idx="1"/>
          </p:nvPr>
        </p:nvSpPr>
        <p:spPr/>
        <p:txBody>
          <a:bodyPr wrap="square"/>
          <a:lstStyle/>
          <a:p/>
          <a:p>
            <a:pPr>
              <a:spcAft>
                <a:spcPts val="1200"/>
              </a:spcAft>
              <a:defRPr sz="1800"/>
            </a:pPr>
            <a:r>
              <a:t>Feature card:</a:t>
            </a:r>
          </a:p>
          <a:p>
            <a:pPr>
              <a:spcAft>
                <a:spcPts val="1200"/>
              </a:spcAft>
              <a:defRPr sz="1800"/>
            </a:pPr>
            <a:r>
              <a:t>"User Analytics Dashboard"</a:t>
            </a:r>
          </a:p>
          <a:p>
            <a:pPr>
              <a:spcAft>
                <a:spcPts val="1200"/>
              </a:spcAft>
              <a:defRPr sz="1800"/>
            </a:pPr>
            <a:r>
              <a:t>Maturity: mvp-beta</a:t>
            </a:r>
          </a:p>
          <a:p>
            <a:pPr>
              <a:spcAft>
                <a:spcPts val="1200"/>
              </a:spcAft>
              <a:defRPr sz="1800"/>
            </a:pPr>
            <a:r>
              <a:t>Timeline: 3 hours total</a:t>
            </a:r>
          </a:p>
          <a:p>
            <a:pPr>
              <a:spcAft>
                <a:spcPts val="1200"/>
              </a:spcAft>
              <a:defRPr sz="1800"/>
            </a:pPr>
            <a:r>
              <a: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4400" b="1">
                <a:solidFill>
                  <a:srgbClr val="003366"/>
                </a:solidFill>
              </a:defRPr>
            </a:pPr>
            <a:r>
              <a:t>22</a:t>
            </a:r>
          </a:p>
        </p:txBody>
      </p:sp>
      <p:sp>
        <p:nvSpPr>
          <p:cNvPr id="3" name="Content Placeholder 2"/>
          <p:cNvSpPr>
            <a:spLocks noGrp="1"/>
          </p:cNvSpPr>
          <p:nvPr>
            <p:ph idx="1"/>
          </p:nvPr>
        </p:nvSpPr>
        <p:spPr/>
        <p:txBody>
          <a:bodyPr wrap="square"/>
          <a:lstStyle/>
          <a:p/>
          <a:p>
            <a:pPr>
              <a:spcAft>
                <a:spcPts val="1200"/>
              </a:spcAft>
              <a:defRPr sz="1800"/>
            </a:pPr>
            <a:r>
              <a:t>Flow diagram:</a:t>
            </a:r>
          </a:p>
          <a:p>
            <a:pPr>
              <a:spcAft>
                <a:spcPts val="1200"/>
              </a:spcAft>
              <a:defRPr sz="1800"/>
            </a:pPr>
            <a:r>
              <a:t>Jira Ticket →</a:t>
            </a:r>
          </a:p>
          <a:p>
            <a:pPr>
              <a:spcAft>
                <a:spcPts val="1200"/>
              </a:spcAft>
              <a:defRPr sz="1800"/>
            </a:pPr>
            <a:r>
              <a:t>System Reads:</a:t>
            </a:r>
          </a:p>
          <a:p>
            <a:pPr>
              <a:spcAft>
                <a:spcPts val="1200"/>
              </a:spcAft>
              <a:defRPr sz="1800"/>
            </a:pPr>
            <a:r>
              <a:t>ADRs (Chart.js, not D3)</a:t>
            </a:r>
          </a:p>
          <a:p>
            <a:pPr>
              <a:spcAft>
                <a:spcPts val="1200"/>
              </a:spcAft>
              <a:defRPr sz="1800"/>
            </a:pPr>
            <a:r>
              <a:t>Locks (can read analytics API)</a:t>
            </a:r>
          </a:p>
          <a:p>
            <a:pPr>
              <a:spcAft>
                <a:spcPts val="1200"/>
              </a:spcAft>
              <a:defRPr sz="1800"/>
            </a:pPr>
            <a:r>
              <a:t>Context (latest Chart.js 4.x docs)</a:t>
            </a:r>
          </a:p>
          <a:p>
            <a:pPr>
              <a:spcAft>
                <a:spcPts val="1200"/>
              </a:spcAft>
              <a:defRPr sz="1800"/>
            </a:pPr>
            <a:r>
              <a:t>Constraints (512MB RAM limit)</a:t>
            </a:r>
          </a:p>
          <a:p>
            <a:pPr>
              <a:spcAft>
                <a:spcPts val="1200"/>
              </a:spcAft>
              <a:defRPr sz="1800"/>
            </a:pPr>
            <a:r>
              <a:t>→ Tech Spec Generated (30 min)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4400" b="1">
                <a:solidFill>
                  <a:srgbClr val="003366"/>
                </a:solidFill>
              </a:defRPr>
            </a:pPr>
            <a:r>
              <a:t>23</a:t>
            </a:r>
          </a:p>
        </p:txBody>
      </p:sp>
      <p:sp>
        <p:nvSpPr>
          <p:cNvPr id="3" name="Content Placeholder 2"/>
          <p:cNvSpPr>
            <a:spLocks noGrp="1"/>
          </p:cNvSpPr>
          <p:nvPr>
            <p:ph idx="1"/>
          </p:nvPr>
        </p:nvSpPr>
        <p:spPr/>
        <p:txBody>
          <a:bodyPr wrap="square"/>
          <a:lstStyle/>
          <a:p/>
          <a:p>
            <a:pPr>
              <a:spcAft>
                <a:spcPts val="1200"/>
              </a:spcAft>
              <a:defRPr sz="1800"/>
            </a:pPr>
            <a:r>
              <a:t>Checklist with status:</a:t>
            </a:r>
          </a:p>
          <a:p>
            <a:pPr>
              <a:spcAft>
                <a:spcPts val="1200"/>
              </a:spcAft>
              <a:defRPr sz="1800"/>
            </a:pPr>
            <a:r>
              <a:t>✅ Architect: Follows ADR-003 (Chart.js)</a:t>
            </a:r>
          </a:p>
          <a:p>
            <a:pPr>
              <a:spcAft>
                <a:spcPts val="1200"/>
              </a:spcAft>
              <a:defRPr sz="1800"/>
            </a:pPr>
            <a:r>
              <a:t>✅ Security: No SQL injection, auth checks present</a:t>
            </a:r>
          </a:p>
          <a:p>
            <a:pPr>
              <a:spcAft>
                <a:spcPts val="1200"/>
              </a:spcAft>
              <a:defRPr sz="1800"/>
            </a:pPr>
            <a:r>
              <a:t>✅ Performance: Pagination implemented, no N+1</a:t>
            </a:r>
          </a:p>
          <a:p>
            <a:pPr>
              <a:spcAft>
                <a:spcPts val="1200"/>
              </a:spcAft>
              <a:defRPr sz="1800"/>
            </a:pPr>
            <a:r>
              <a:t>⚠️ Testing: 32% coverage (needs 35% for mvp-beta)</a:t>
            </a:r>
          </a:p>
          <a:p>
            <a:pPr>
              <a:spcAft>
                <a:spcPts val="1200"/>
              </a:spcAft>
              <a:defRPr sz="1800"/>
            </a:pPr>
            <a:r>
              <a:t>✅ Lock Coordinator: No protected files touched</a:t>
            </a:r>
          </a:p>
          <a:p>
            <a:pPr>
              <a:spcAft>
                <a:spcPts val="1200"/>
              </a:spcAft>
              <a:defRPr sz="1800"/>
            </a:pPr>
            <a:r>
              <a:t>Action: Testing agent bumps to 37% → All green ✅</a:t>
            </a:r>
          </a:p>
          <a:p>
            <a:pPr>
              <a:spcAft>
                <a:spcPts val="1200"/>
              </a:spcAft>
              <a:defRPr sz="1800"/>
            </a:pPr>
            <a:r>
              <a: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4400" b="1">
                <a:solidFill>
                  <a:srgbClr val="003366"/>
                </a:solidFill>
              </a:defRPr>
            </a:pPr>
            <a:r>
              <a:t>24</a:t>
            </a:r>
          </a:p>
        </p:txBody>
      </p:sp>
      <p:sp>
        <p:nvSpPr>
          <p:cNvPr id="3" name="Content Placeholder 2"/>
          <p:cNvSpPr>
            <a:spLocks noGrp="1"/>
          </p:cNvSpPr>
          <p:nvPr>
            <p:ph idx="1"/>
          </p:nvPr>
        </p:nvSpPr>
        <p:spPr/>
        <p:txBody>
          <a:bodyPr wrap="square"/>
          <a:lstStyle/>
          <a:p/>
          <a:p>
            <a:pPr>
              <a:spcAft>
                <a:spcPts val="1200"/>
              </a:spcAft>
              <a:defRPr sz="1800"/>
            </a:pPr>
            <a:r>
              <a:t>Split screen:</a:t>
            </a:r>
          </a:p>
          <a:p>
            <a:pPr>
              <a:spcAft>
                <a:spcPts val="1200"/>
              </a:spcAft>
              <a:defRPr sz="1800"/>
            </a:pPr>
            <a:r>
              <a:t>Human Review (10 min):</a:t>
            </a:r>
          </a:p>
          <a:p>
            <a:pPr>
              <a:spcAft>
                <a:spcPts val="1200"/>
              </a:spcAft>
              <a:defRPr sz="1800"/>
            </a:pPr>
            <a:r>
              <a:t>Focus: "Does this solve the user's problem?"</a:t>
            </a:r>
          </a:p>
          <a:p>
            <a:pPr>
              <a:spcAft>
                <a:spcPts val="1200"/>
              </a:spcAft>
              <a:defRPr sz="1800"/>
            </a:pPr>
            <a:r>
              <a:t>Skip: Linting, security, architecture (already validated ✅)</a:t>
            </a:r>
          </a:p>
          <a:p>
            <a:pPr>
              <a:spcAft>
                <a:spcPts val="1200"/>
              </a:spcAft>
              <a:defRPr sz="1800"/>
            </a:pPr>
            <a:r>
              <a:t>Parallel Implementation (2 hours):</a:t>
            </a:r>
          </a:p>
          <a:p>
            <a:pPr>
              <a:spcAft>
                <a:spcPts val="1200"/>
              </a:spcAft>
              <a:defRPr sz="1800"/>
            </a:pPr>
            <a:r>
              <a:t>Agent A: Frontend dashboard</a:t>
            </a:r>
          </a:p>
          <a:p>
            <a:pPr>
              <a:spcAft>
                <a:spcPts val="1200"/>
              </a:spcAft>
              <a:defRPr sz="1800"/>
            </a:pPr>
            <a:r>
              <a:t>Agent B: Backend API</a:t>
            </a:r>
          </a:p>
          <a:p>
            <a:pPr>
              <a:spcAft>
                <a:spcPts val="1200"/>
              </a:spcAft>
              <a:defRPr sz="1800"/>
            </a:pPr>
            <a:r>
              <a:t>Agent C: Database migrations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4400" b="1">
                <a:solidFill>
                  <a:srgbClr val="003366"/>
                </a:solidFill>
              </a:defRPr>
            </a:pPr>
            <a:r>
              <a:t>25</a:t>
            </a:r>
          </a:p>
        </p:txBody>
      </p:sp>
      <p:sp>
        <p:nvSpPr>
          <p:cNvPr id="3" name="Content Placeholder 2"/>
          <p:cNvSpPr>
            <a:spLocks noGrp="1"/>
          </p:cNvSpPr>
          <p:nvPr>
            <p:ph idx="1"/>
          </p:nvPr>
        </p:nvSpPr>
        <p:spPr/>
        <p:txBody>
          <a:bodyPr wrap="square"/>
          <a:lstStyle/>
          <a:p/>
          <a:p>
            <a:pPr>
              <a:spcAft>
                <a:spcPts val="1200"/>
              </a:spcAft>
              <a:defRPr sz="1800"/>
            </a:pPr>
            <a:r>
              <a:t>10x faster than traditional. 2x safer than vibe coding.</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4400" b="1">
                <a:solidFill>
                  <a:srgbClr val="003366"/>
                </a:solidFill>
              </a:defRPr>
            </a:pPr>
            <a:r>
              <a:t>26</a:t>
            </a:r>
          </a:p>
        </p:txBody>
      </p:sp>
      <p:sp>
        <p:nvSpPr>
          <p:cNvPr id="3" name="Content Placeholder 2"/>
          <p:cNvSpPr>
            <a:spLocks noGrp="1"/>
          </p:cNvSpPr>
          <p:nvPr>
            <p:ph idx="1"/>
          </p:nvPr>
        </p:nvSpPr>
        <p:spPr/>
        <p:txBody>
          <a:bodyPr wrap="square"/>
          <a:lstStyle/>
          <a:p/>
          <a:p>
            <a:pPr>
              <a:spcAft>
                <a:spcPts val="1200"/>
              </a:spcAft>
              <a:defRPr sz="1800"/>
            </a:pPr>
            <a:r>
              <a:t>Two columns:</a:t>
            </a:r>
          </a:p>
          <a:p>
            <a:pPr>
              <a:spcAft>
                <a:spcPts val="1200"/>
              </a:spcAft>
              <a:defRPr sz="1800"/>
            </a:pPr>
            <a:r>
              <a:t>Vibe Coding (13 solved):</a:t>
            </a:r>
          </a:p>
          <a:p>
            <a:pPr>
              <a:spcAft>
                <a:spcPts val="1200"/>
              </a:spcAft>
              <a:defRPr sz="1800"/>
            </a:pPr>
            <a:r>
              <a:t>✅ Architectural drift</a:t>
            </a:r>
          </a:p>
          <a:p>
            <a:pPr>
              <a:spcAft>
                <a:spcPts val="1200"/>
              </a:spcAft>
              <a:defRPr sz="1800"/>
            </a:pPr>
            <a:r>
              <a:t>✅ Inconsistent implementations</a:t>
            </a:r>
          </a:p>
          <a:p>
            <a:pPr>
              <a:spcAft>
                <a:spcPts val="1200"/>
              </a:spcAft>
              <a:defRPr sz="1800"/>
            </a:pPr>
            <a:r>
              <a:t>✅ No security-by-design</a:t>
            </a:r>
          </a:p>
          <a:p>
            <a:pPr>
              <a:spcAft>
                <a:spcPts val="1200"/>
              </a:spcAft>
              <a:defRPr sz="1800"/>
            </a:pPr>
            <a:r>
              <a:t>✅ Insufficient test coverage</a:t>
            </a:r>
          </a:p>
          <a:p>
            <a:pPr>
              <a:spcAft>
                <a:spcPts val="1200"/>
              </a:spcAft>
              <a:defRPr sz="1800"/>
            </a:pPr>
            <a:r>
              <a:t>✅ LLM knowledge cutoff</a:t>
            </a:r>
          </a:p>
          <a:p>
            <a:pPr>
              <a:spcAft>
                <a:spcPts val="1200"/>
              </a:spcAft>
              <a:defRPr sz="1800"/>
            </a:pPr>
            <a:r>
              <a:t>✅ Critical code refactored</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4400" b="1">
                <a:solidFill>
                  <a:srgbClr val="003366"/>
                </a:solidFill>
              </a:defRPr>
            </a:pPr>
            <a:r>
              <a:t>27</a:t>
            </a:r>
          </a:p>
        </p:txBody>
      </p:sp>
      <p:sp>
        <p:nvSpPr>
          <p:cNvPr id="3" name="Content Placeholder 2"/>
          <p:cNvSpPr>
            <a:spLocks noGrp="1"/>
          </p:cNvSpPr>
          <p:nvPr>
            <p:ph idx="1"/>
          </p:nvPr>
        </p:nvSpPr>
        <p:spPr/>
        <p:txBody>
          <a:bodyPr wrap="square"/>
          <a:lstStyle/>
          <a:p/>
          <a:p>
            <a:pPr>
              <a:spcAft>
                <a:spcPts val="1200"/>
              </a:spcAft>
              <a:defRPr sz="1800"/>
            </a:pPr>
            <a:r>
              <a:t>Start in 15 minutes. See ROI in 2 weeks.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4400" b="1">
                <a:solidFill>
                  <a:srgbClr val="003366"/>
                </a:solidFill>
              </a:defRPr>
            </a:pPr>
            <a:r>
              <a:t>28</a:t>
            </a:r>
          </a:p>
        </p:txBody>
      </p:sp>
      <p:sp>
        <p:nvSpPr>
          <p:cNvPr id="3" name="Content Placeholder 2"/>
          <p:cNvSpPr>
            <a:spLocks noGrp="1"/>
          </p:cNvSpPr>
          <p:nvPr>
            <p:ph idx="1"/>
          </p:nvPr>
        </p:nvSpPr>
        <p:spPr/>
        <p:txBody>
          <a:bodyPr wrap="square"/>
          <a:lstStyle/>
          <a:p/>
          <a:p>
            <a:pPr>
              <a:spcAft>
                <a:spcPts val="1200"/>
              </a:spcAft>
              <a:defRPr sz="1800"/>
            </a:pPr>
            <a:r>
              <a:t>Dashboard mockup showing:</a:t>
            </a:r>
          </a:p>
          <a:p>
            <a:pPr>
              <a:spcAft>
                <a:spcPts val="1200"/>
              </a:spcAft>
              <a:defRPr sz="1800"/>
            </a:pPr>
            <a:r>
              <a:t>📊 Architectural Consistency Score</a:t>
            </a:r>
          </a:p>
          <a:p>
            <a:pPr>
              <a:spcAft>
                <a:spcPts val="1200"/>
              </a:spcAft>
              <a:defRPr sz="1800"/>
            </a:pPr>
            <a:r>
              <a:t>85% of code follows ADRs ↑ 40%</a:t>
            </a:r>
          </a:p>
          <a:p>
            <a:pPr>
              <a:spcAft>
                <a:spcPts val="1200"/>
              </a:spcAft>
              <a:defRPr sz="1800"/>
            </a:pPr>
            <a:r>
              <a:t>⏱️ Review Time Reduction</a:t>
            </a:r>
          </a:p>
          <a:p>
            <a:pPr>
              <a:spcAft>
                <a:spcPts val="1200"/>
              </a:spcAft>
              <a:defRPr sz="1800"/>
            </a:pPr>
            <a:r>
              <a:t>4.5 hours → 45 minutes ↓ 83%</a:t>
            </a:r>
          </a:p>
          <a:p>
            <a:pPr>
              <a:spcAft>
                <a:spcPts val="1200"/>
              </a:spcAft>
              <a:defRPr sz="1800"/>
            </a:pPr>
            <a:r>
              <a:t>🐛 Bug Escape Rate</a:t>
            </a:r>
          </a:p>
          <a:p>
            <a:pPr>
              <a:spcAft>
                <a:spcPts val="1200"/>
              </a:spcAft>
              <a:defRPr sz="1800"/>
            </a:pPr>
            <a:r>
              <a:t>Production bugs from AI code ↓ 67%</a:t>
            </a:r>
          </a:p>
          <a:p>
            <a:pPr>
              <a:spcAft>
                <a:spcPts val="1200"/>
              </a:spcAft>
              <a:defRPr sz="1800"/>
            </a:pPr>
            <a:r>
              <a:t>⚡ Feature Velocity</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4400" b="1">
                <a:solidFill>
                  <a:srgbClr val="003366"/>
                </a:solidFill>
              </a:defRPr>
            </a:pPr>
            <a:r>
              <a:t>29</a:t>
            </a:r>
          </a:p>
        </p:txBody>
      </p:sp>
      <p:sp>
        <p:nvSpPr>
          <p:cNvPr id="3" name="Content Placeholder 2"/>
          <p:cNvSpPr>
            <a:spLocks noGrp="1"/>
          </p:cNvSpPr>
          <p:nvPr>
            <p:ph idx="1"/>
          </p:nvPr>
        </p:nvSpPr>
        <p:spPr/>
        <p:txBody>
          <a:bodyPr wrap="square"/>
          <a:lstStyle/>
          <a:p/>
          <a:p>
            <a:pPr>
              <a:spcAft>
                <a:spcPts val="1200"/>
              </a:spcAft>
              <a:defRPr sz="1800"/>
            </a:pPr>
            <a:r>
              <a:t>AI adoption: 300% YoY growth</a:t>
            </a:r>
          </a:p>
          <a:p>
            <a:pPr>
              <a:spcAft>
                <a:spcPts val="1200"/>
              </a:spcAft>
              <a:defRPr sz="1800"/>
            </a:pPr>
            <a:r>
              <a:t>"The question isn't if you'll use AI agents.</a:t>
            </a:r>
          </a:p>
          <a:p>
            <a:pPr>
              <a:spcAft>
                <a:spcPts val="1200"/>
              </a:spcAft>
              <a:defRPr sz="1800"/>
            </a:pPr>
            <a:r>
              <a:t>It's how you'll prevent chaos."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4400" b="1">
                <a:solidFill>
                  <a:srgbClr val="003366"/>
                </a:solidFill>
              </a:defRPr>
            </a:pPr>
            <a:r>
              <a:t>30</a:t>
            </a:r>
          </a:p>
        </p:txBody>
      </p:sp>
      <p:sp>
        <p:nvSpPr>
          <p:cNvPr id="3" name="Content Placeholder 2"/>
          <p:cNvSpPr>
            <a:spLocks noGrp="1"/>
          </p:cNvSpPr>
          <p:nvPr>
            <p:ph idx="1"/>
          </p:nvPr>
        </p:nvSpPr>
        <p:spPr/>
        <p:txBody>
          <a:bodyPr wrap="square"/>
          <a:lstStyle/>
          <a:p/>
          <a:p>
            <a:pPr>
              <a:spcAft>
                <a:spcPts val="1200"/>
              </a:spcAft>
              <a:defRPr sz="1800"/>
            </a:pPr>
            <a:r>
              <a:t>"Which future will you choose?"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4400" b="1">
                <a:solidFill>
                  <a:srgbClr val="003366"/>
                </a:solidFill>
              </a:defRPr>
            </a:pPr>
            <a:r>
              <a:t>31</a:t>
            </a:r>
          </a:p>
        </p:txBody>
      </p:sp>
      <p:sp>
        <p:nvSpPr>
          <p:cNvPr id="3" name="Content Placeholder 2"/>
          <p:cNvSpPr>
            <a:spLocks noGrp="1"/>
          </p:cNvSpPr>
          <p:nvPr>
            <p:ph idx="1"/>
          </p:nvPr>
        </p:nvSpPr>
        <p:spPr/>
        <p:txBody>
          <a:bodyPr wrap="square"/>
          <a:lstStyle/>
          <a:p/>
          <a:p>
            <a:pPr>
              <a:spcAft>
                <a:spcPts val="1200"/>
              </a:spcAft>
              <a:defRPr sz="1800"/>
            </a:pPr>
            <a:r>
              <a:t>Big bold text with QR code:</a:t>
            </a:r>
          </a:p>
          <a:p>
            <a:pPr>
              <a:spcAft>
                <a:spcPts val="1200"/>
              </a:spcAft>
              <a:defRPr sz="1800"/>
            </a:pPr>
            <a:r>
              <a:t>Ready to Try It?</a:t>
            </a:r>
          </a:p>
          <a:p>
            <a:pPr>
              <a:spcAft>
                <a:spcPts val="1200"/>
              </a:spcAft>
              <a:defRPr sz="1800"/>
            </a:pPr>
            <a:r>
              <a:t>🚀 Download starter kit:</a:t>
            </a:r>
          </a:p>
          <a:p>
            <a:pPr>
              <a:spcAft>
                <a:spcPts val="1200"/>
              </a:spcAft>
              <a:defRPr sz="1800"/>
            </a:pPr>
            <a:r>
              <a:t>[QR Code linking to repo]</a:t>
            </a:r>
          </a:p>
          <a:p>
            <a:pPr>
              <a:spcAft>
                <a:spcPts val="1200"/>
              </a:spcAft>
              <a:defRPr sz="1800"/>
            </a:pPr>
            <a:r>
              <a:t>📚 Read full research:</a:t>
            </a:r>
          </a:p>
          <a:p>
            <a:pPr>
              <a:spcAft>
                <a:spcPts val="1200"/>
              </a:spcAft>
              <a:defRPr sz="1800"/>
            </a:pPr>
            <a:r>
              <a:t>github.com/[your-repo]/ai-native-sdlc</a:t>
            </a:r>
          </a:p>
          <a:p>
            <a:pPr>
              <a:spcAft>
                <a:spcPts val="1200"/>
              </a:spcAft>
              <a:defRPr sz="1800"/>
            </a:pPr>
            <a:r>
              <a:t>💬 Join the discussion:</a:t>
            </a:r>
          </a:p>
          <a:p>
            <a:pPr>
              <a:spcAft>
                <a:spcPts val="1200"/>
              </a:spcAft>
              <a:defRPr sz="1800"/>
            </a:pPr>
            <a:r>
              <a:t>[Community link]</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4400" b="1">
                <a:solidFill>
                  <a:srgbClr val="003366"/>
                </a:solidFill>
              </a:defRPr>
            </a:pPr>
            <a:r>
              <a:t>32</a:t>
            </a:r>
          </a:p>
        </p:txBody>
      </p:sp>
      <p:sp>
        <p:nvSpPr>
          <p:cNvPr id="3" name="Content Placeholder 2"/>
          <p:cNvSpPr>
            <a:spLocks noGrp="1"/>
          </p:cNvSpPr>
          <p:nvPr>
            <p:ph idx="1"/>
          </p:nvPr>
        </p:nvSpPr>
        <p:spPr/>
        <p:txBody>
          <a:bodyPr wrap="square"/>
          <a:lstStyle/>
          <a:p/>
          <a:p>
            <a:pPr>
              <a:spcAft>
                <a:spcPts val="1200"/>
              </a:spcAft>
              <a:defRPr sz="1800"/>
            </a:pPr>
            <a:r>
              <a:t>"Thank You"</a:t>
            </a:r>
          </a:p>
          <a:p>
            <a:pPr>
              <a:spcAft>
                <a:spcPts val="1200"/>
              </a:spcAft>
              <a:defRPr sz="1800"/>
            </a:pPr>
            <a:r>
              <a:t>Your contact info</a:t>
            </a:r>
          </a:p>
          <a:p>
            <a:pPr>
              <a:spcAft>
                <a:spcPts val="1200"/>
              </a:spcAft>
              <a:defRPr sz="1800"/>
            </a:pPr>
            <a:r>
              <a:t>QR codes for resources</a:t>
            </a:r>
          </a:p>
          <a:p>
            <a:pPr>
              <a:spcAft>
                <a:spcPts val="1200"/>
              </a:spcAft>
              <a:defRPr sz="1800"/>
            </a:pPr>
            <a:r>
              <a:t>Social media handles</a:t>
            </a:r>
          </a:p>
          <a:p>
            <a:pPr>
              <a:spcAft>
                <a:spcPts val="1200"/>
              </a:spcAft>
              <a:defRPr sz="1800"/>
            </a:pPr>
            <a:r>
              <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